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610" y="3750915"/>
            <a:ext cx="5374778" cy="52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65696" y="1630709"/>
            <a:ext cx="486060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F8FAFC"/>
                </a:solidFill>
                <a:latin typeface="Noto Sans SC"/>
              </a:rPr>
              <a:t>泰坦尼克号数据分析</a:t>
            </a:r>
            <a:r>
              <a:t>
</a:t>
            </a:r>
            <a:r>
              <a:rPr sz="4050" b="1" i="0" u="none">
                <a:solidFill>
                  <a:srgbClr val="F8FAFC"/>
                </a:solidFill>
                <a:latin typeface="Noto Sans SC"/>
              </a:rPr>
              <a:t> 与</a:t>
            </a:r>
            <a:r>
              <a:rPr sz="4050" b="1" i="0" u="none">
                <a:solidFill>
                  <a:srgbClr val="38BDF8"/>
                </a:solidFill>
                <a:latin typeface="Noto Sans SC"/>
              </a:rPr>
              <a:t>模型局限报告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7525" y="3055590"/>
            <a:ext cx="6076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Noto Sans SC"/>
              </a:rPr>
              <a:t>基于机器学习的分类模型评估、失败案例剖析与人机工作边界研究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6583"/>
            <a:ext cx="5524500" cy="12019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9019"/>
            <a:ext cx="5524500" cy="12019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01455"/>
            <a:ext cx="5524500" cy="1201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8007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SC"/>
              </a:rPr>
              <a:t>项目定位与应用边界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9429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3582" y="1907083"/>
            <a:ext cx="510501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/>
              </a:rPr>
              <a:t>目标使用者与场景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240458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面向准备历史展览、希望向公众解释数据特征与机器学习算法局限的博物馆教育团队。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582" y="3299519"/>
            <a:ext cx="510501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/>
              </a:rPr>
              <a:t>关键风险与错误偏好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32894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最关注</a:t>
            </a:r>
            <a:r>
              <a:rPr sz="1200" b="1" i="0" u="none">
                <a:solidFill>
                  <a:srgbClr val="475569"/>
                </a:solidFill>
                <a:latin typeface="Noto Sans SC"/>
              </a:rPr>
              <a:t>假阴性错误</a:t>
            </a:r>
            <a:r>
              <a:rPr sz="1200" b="0" i="0" u="none">
                <a:solidFill>
                  <a:srgbClr val="475569"/>
                </a:solidFill>
                <a:latin typeface="Noto Sans SC"/>
              </a:rPr>
              <a:t>（真实幸存却被预测为未幸存），避免观众产生“被误判者必死”的决定论误解。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582" y="4691955"/>
            <a:ext cx="510501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/>
              </a:rPr>
              <a:t>产品严格边界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025330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本项目属于历史观察数据分析，</a:t>
            </a:r>
            <a:r>
              <a:rPr sz="1200" b="1" i="0" u="none">
                <a:solidFill>
                  <a:srgbClr val="475569"/>
                </a:solidFill>
                <a:latin typeface="Noto Sans SC"/>
              </a:rPr>
              <a:t>绝非现代救援分配工具</a:t>
            </a:r>
            <a:r>
              <a:rPr sz="1200" b="0" i="0" u="none">
                <a:solidFill>
                  <a:srgbClr val="475569"/>
                </a:solidFill>
                <a:latin typeface="Noto Sans SC"/>
              </a:rPr>
              <a:t>，统计特征相关性无法证明因果生存关系。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940421"/>
            <a:ext cx="148232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332857"/>
            <a:ext cx="148232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725292"/>
            <a:ext cx="148232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8036"/>
            <a:ext cx="3530649" cy="33144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148036"/>
            <a:ext cx="3530649" cy="331440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148036"/>
            <a:ext cx="3530649" cy="33144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443311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167211"/>
            <a:ext cx="154019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/>
              </a:rPr>
              <a:t>数据集基础结构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443311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68874" y="3167211"/>
            <a:ext cx="154019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/>
              </a:rPr>
              <a:t>已知缺失与偏差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443311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8124" y="3167211"/>
            <a:ext cx="154019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/>
              </a:rPr>
              <a:t>完全可复现流程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325" y="2595711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1075" y="3567261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来源：Kaggle Titanic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906291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规模：891 行，12 列特征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245322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标签分布：未幸存 549，幸存 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584352"/>
            <a:ext cx="2882949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实测命令：python train.py --check-data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6575" y="2595711"/>
            <a:ext cx="177849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40324" y="3567261"/>
            <a:ext cx="267592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Age（年龄）缺失 177 条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0324" y="3906291"/>
            <a:ext cx="267592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Cabin（船舱）缺失 687 条 (77%)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0324" y="4245322"/>
            <a:ext cx="267592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Embarked（登船港）缺失 2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0324" y="4584352"/>
            <a:ext cx="267592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缺失值在训练流水线（Pipeline）内填补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5825" y="2595711"/>
            <a:ext cx="177849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99574" y="3567261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严格划分：25% 留出测试集 (223行)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9574" y="3906291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分层采样：保持原始标签类别比例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9574" y="4245322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单元测试：3 项单元测试全部通过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9574" y="4584352"/>
            <a:ext cx="2882949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一键输出：metrics.json 与 errors.csv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56726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390629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424532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458435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874" y="356726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8874" y="390629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8874" y="424532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8874" y="458435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8124" y="356726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8124" y="390629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8124" y="424532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8124" y="458435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SC"/>
              </a:rPr>
              <a:t>数据质量与可复现验证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9429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05062"/>
            <a:ext cx="11049000" cy="28003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05062"/>
          <a:ext cx="11039473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5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 SemiBold"/>
                        </a:rPr>
                        <a:t>评估维度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 SemiBold"/>
                        </a:rPr>
                        <a:t>简单基线 (Dummy Classifier)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 SemiBold"/>
                        </a:rPr>
                        <a:t>候选模型 (Random Forest)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 SemiBold"/>
                        </a:rPr>
                        <a:t>业务含义与改进说明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SC"/>
                        </a:rPr>
                        <a:t>主指标 (F1)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0.000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0.667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候选模型具备识别幸存者的核心能力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SC"/>
                        </a:rPr>
                        <a:t>幸存者召回率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0.000 (0/86)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0.640 (55/86)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86 名真实幸存者中成功识别出 55 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SC"/>
                        </a:rPr>
                        <a:t>总体准确率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0.614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0.753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整体预测正确比例提升 13.9%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SC"/>
                        </a:rPr>
                        <a:t>混淆矩阵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[[137, 0], [86, 0]]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[[113, 24], [31, 55]]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SC"/>
                        </a:rPr>
                        <a:t>假阴性（漏报）由 86 显著降至 31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981325"/>
            <a:ext cx="1582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58751" y="2981325"/>
            <a:ext cx="3165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24326" y="2981325"/>
            <a:ext cx="29460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0378" y="2981325"/>
            <a:ext cx="3345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3533775"/>
            <a:ext cx="1582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58751" y="3533775"/>
            <a:ext cx="3165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24326" y="3533775"/>
            <a:ext cx="29460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0378" y="3533775"/>
            <a:ext cx="3345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086225"/>
            <a:ext cx="1582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58751" y="4086225"/>
            <a:ext cx="3165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24326" y="4086225"/>
            <a:ext cx="29460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0378" y="4086225"/>
            <a:ext cx="3345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638675"/>
            <a:ext cx="1582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58751" y="4638675"/>
            <a:ext cx="3165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24326" y="4638675"/>
            <a:ext cx="29460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0378" y="4638675"/>
            <a:ext cx="3345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351" y="3143250"/>
            <a:ext cx="586233" cy="238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351" y="3695700"/>
            <a:ext cx="999083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351" y="4248150"/>
            <a:ext cx="586233" cy="2381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SC"/>
              </a:rPr>
              <a:t>基线与候选模型性能对比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9429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6583"/>
            <a:ext cx="5524500" cy="12019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9019"/>
            <a:ext cx="5524500" cy="12019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01455"/>
            <a:ext cx="5524500" cy="1201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8007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SC"/>
              </a:rPr>
              <a:t>真实失败案例深入剖析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" y="9429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3582" y="1907083"/>
            <a:ext cx="510501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/>
              </a:rPr>
              <a:t>错判样本：PassengerId 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240458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Noto Sans SC"/>
              </a:rPr>
              <a:t>戴维森夫人 (Mrs. Thomas Henry Davison)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Noto Sans SC"/>
              </a:rPr>
              <a:t> 真实结果：Survived = 1 (幸存) | 预测结果：Predicted = 0 (未幸存)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582" y="3299519"/>
            <a:ext cx="510501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/>
              </a:rPr>
              <a:t>关键特征组合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32894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女性 | 三等舱 | </a:t>
            </a:r>
            <a:r>
              <a:rPr sz="1200" b="1" i="0" u="none">
                <a:solidFill>
                  <a:srgbClr val="475569"/>
                </a:solidFill>
                <a:latin typeface="Noto Sans SC"/>
              </a:rPr>
              <a:t>年龄缺失</a:t>
            </a:r>
            <a:r>
              <a:rPr sz="1200" b="0" i="0" u="none">
                <a:solidFill>
                  <a:srgbClr val="475569"/>
                </a:solidFill>
                <a:latin typeface="Noto Sans SC"/>
              </a:rPr>
              <a:t> | 1位兄弟姐妹/配偶 | 0位父母/子女 | 票价 16.1 | Southampton 登船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582" y="4691955"/>
            <a:ext cx="510501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/>
              </a:rPr>
              <a:t>算法局限总结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025330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模型依赖于“女性高幸存率”的通用统计规律，但在“三等舱+年龄缺失”的边缘特征组合下产生误判，无法反映个体复杂的真实选择。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940421"/>
            <a:ext cx="148232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332857"/>
            <a:ext cx="148232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725292"/>
            <a:ext cx="148232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7551"/>
            <a:ext cx="3530649" cy="2975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17551"/>
            <a:ext cx="3530649" cy="29753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17551"/>
            <a:ext cx="3530649" cy="29753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12826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36726"/>
            <a:ext cx="18214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/>
              </a:rPr>
              <a:t>AI 辅助提出与生成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12826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68874" y="3336726"/>
            <a:ext cx="198024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/>
              </a:rPr>
              <a:t>学生核对与拒绝建议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12826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8124" y="3336726"/>
            <a:ext cx="17602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/>
              </a:rPr>
              <a:t>学生独立掌握能力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325" y="2765226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1075" y="3736776"/>
            <a:ext cx="258261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生成基线与随机森林候选模型结构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075807"/>
            <a:ext cx="258261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辅助编写数据预处理流水线代码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414837"/>
            <a:ext cx="258261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协助排查评估指标计算函数的潜在 bug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6575" y="2765226"/>
            <a:ext cx="177849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0324" y="3736776"/>
            <a:ext cx="2882949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Noto Sans SC"/>
              </a:rPr>
              <a:t>拒绝全局均值填充建议</a:t>
            </a:r>
            <a:r>
              <a:rPr sz="1200" b="0" i="0" u="none">
                <a:solidFill>
                  <a:srgbClr val="475569"/>
                </a:solidFill>
                <a:latin typeface="Noto Sans SC"/>
              </a:rPr>
              <a:t>（改用 Pipeline 内填补，防止数据泄露）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0324" y="4319587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独立运行完整测试套件与数据校验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0324" y="4658617"/>
            <a:ext cx="28829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核对 Git diff 确保改动受控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5825" y="2765226"/>
            <a:ext cx="177849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99574" y="3736776"/>
            <a:ext cx="273501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独立解释 ColumnTransformer 特征转换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9574" y="4075807"/>
            <a:ext cx="273501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掌握随机森林超参数 (n_estimators) 调优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9574" y="4414837"/>
            <a:ext cx="273501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SC"/>
              </a:rPr>
              <a:t>阐明混淆矩阵中 31 例假阴性的业务含义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73677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07580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41483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874" y="373677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874" y="431958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874" y="465861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124" y="373677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8124" y="407580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8124" y="441483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284C7"/>
                </a:solidFill>
                <a:latin typeface="Noto Sans S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SC"/>
              </a:rPr>
              <a:t>智能体与学生工作边界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9429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5487"/>
            <a:ext cx="54292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995487"/>
            <a:ext cx="542925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42925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947987"/>
            <a:ext cx="542925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00487"/>
            <a:ext cx="542925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900487"/>
            <a:ext cx="542925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52987"/>
            <a:ext cx="542925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852987"/>
            <a:ext cx="542925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147887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2147887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100387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100387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052887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4052887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5005387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5005387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19200" y="21478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本次作业在 891 条泰坦尼克号数据上，对比了简单多数类基线和随机森林模型。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8950" y="21478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在留出的 223 条测试集上，随机森林准确率达 75.3%，幸存者召回率提升至 64.0%。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31003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虽然抓到了部分特征，但模型依然漏掉了 31 位真实幸存者，误判为未幸存。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8950" y="31003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像 348 号乘客这种三等舱且年龄缺失的女性，就因处于统计边缘而被误判。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40528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这说明纯靠统计规律做分类，根本没法完全覆盖个体复杂的实际情况。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8950" y="4052887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而且数据中大量的年龄和船舱缺失值，会直接干扰模型的最终判断。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50053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我们要明确，模型学到的只是历史关联，绝不能当作导致生还的直接因果。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5005387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SC"/>
              </a:rPr>
              <a:t>模型只适合在博物馆展览中科普算法局限，绝不能作为现代救援的决策工具。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SC"/>
              </a:rPr>
              <a:t>答辩总结与结论 (核心观点)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9429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366</Words>
  <Application>Microsoft Office PowerPoint</Application>
  <PresentationFormat>宽屏</PresentationFormat>
  <Paragraphs>96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Noto Sans SC</vt:lpstr>
      <vt:lpstr>Noto Sans SC SemiBold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sj l</cp:lastModifiedBy>
  <cp:revision>2</cp:revision>
  <dcterms:created xsi:type="dcterms:W3CDTF">2013-01-27T09:14:16Z</dcterms:created>
  <dcterms:modified xsi:type="dcterms:W3CDTF">2026-08-17T08:16:01Z</dcterms:modified>
  <cp:category/>
</cp:coreProperties>
</file>